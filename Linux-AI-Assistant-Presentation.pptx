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0" y="1097280"/>
            <a:ext cx="2103120" cy="1097280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0" y="1188720"/>
            <a:ext cx="2103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0F1117"/>
                </a:solidFill>
              </a:defRPr>
            </a:pPr>
            <a:r>
              <a:t>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560320"/>
            <a:ext cx="9418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0F0F5"/>
                </a:solidFill>
              </a:defRPr>
            </a:pPr>
            <a:r>
              <a:t>Linux AI Assistant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3657600"/>
            <a:ext cx="8503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9CA3AF"/>
                </a:solidFill>
              </a:defRPr>
            </a:pPr>
            <a:r>
              <a:t>LLM-Powered Autonomous Agent for Linux System Management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86000" y="4754880"/>
            <a:ext cx="1188720" cy="320040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0F1117"/>
                </a:solidFill>
              </a:rPr>
              <a:t>Ollama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0" y="4754880"/>
            <a:ext cx="1188720" cy="32004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0F1117"/>
                </a:solidFill>
              </a:rPr>
              <a:t>Gemini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0" y="4754880"/>
            <a:ext cx="1188720" cy="320040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0F1117"/>
                </a:solidFill>
              </a:rPr>
              <a:t>React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4754880"/>
            <a:ext cx="1188720" cy="320040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0F1117"/>
                </a:solidFill>
              </a:rPr>
              <a:t>Node.js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0" y="4754880"/>
            <a:ext cx="1188720" cy="320040"/>
          </a:xfrm>
          <a:prstGeom prst="round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0F1117"/>
                </a:solidFill>
              </a:rPr>
              <a:t>Socket.IO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0" y="4754880"/>
            <a:ext cx="1188720" cy="320040"/>
          </a:xfrm>
          <a:prstGeom prst="round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0F1117"/>
                </a:solidFill>
              </a:rPr>
              <a:t>xterm.js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5760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6B7280"/>
                </a:solidFill>
              </a:defRPr>
            </a:pPr>
            <a:r>
              <a:t>Natural Language  -&gt;  Validated Commands  -&gt;  Safe Execution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22C55E"/>
                </a:solidFill>
              </a:defRPr>
            </a:pPr>
            <a:r>
              <a:t>The Problem &amp; Our Solution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029200" cy="4754880"/>
          </a:xfrm>
          <a:prstGeom prst="roundRect">
            <a:avLst/>
          </a:prstGeom>
          <a:solidFill>
            <a:srgbClr val="2D15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55448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EF4444"/>
                </a:solidFill>
              </a:defRPr>
            </a:pPr>
            <a: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9456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EF4444"/>
                </a:solidFill>
              </a:rPr>
              <a:t>  &gt;  </a:t>
            </a:r>
            <a:r>
              <a:rPr sz="1600">
                <a:solidFill>
                  <a:srgbClr val="F0F0F5"/>
                </a:solidFill>
              </a:rPr>
              <a:t>Linux commands are powerful but complex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EF4444"/>
                </a:solidFill>
              </a:rPr>
              <a:t>  &gt;  </a:t>
            </a:r>
            <a:r>
              <a:rPr sz="1600">
                <a:solidFill>
                  <a:srgbClr val="F0F0F5"/>
                </a:solidFill>
              </a:rPr>
              <a:t>Memorizing 1000s of flags &amp; syntax is hard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EF4444"/>
                </a:solidFill>
              </a:rPr>
              <a:t>  &gt;  </a:t>
            </a:r>
            <a:r>
              <a:rPr sz="1600">
                <a:solidFill>
                  <a:srgbClr val="F0F0F5"/>
                </a:solidFill>
              </a:rPr>
              <a:t>Wrong command = data loss or system crash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EF4444"/>
                </a:solidFill>
              </a:rPr>
              <a:t>  &gt;  </a:t>
            </a:r>
            <a:r>
              <a:rPr sz="1600">
                <a:solidFill>
                  <a:srgbClr val="F0F0F5"/>
                </a:solidFill>
              </a:rPr>
              <a:t>Cloud AI assistants send your data externally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EF4444"/>
                </a:solidFill>
              </a:rPr>
              <a:t>  &gt;  </a:t>
            </a:r>
            <a:r>
              <a:rPr sz="1600">
                <a:solidFill>
                  <a:srgbClr val="F0F0F5"/>
                </a:solidFill>
              </a:rPr>
              <a:t>No validation layer between AI and terminal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EF4444"/>
                </a:solidFill>
              </a:rPr>
              <a:t>  &gt;  </a:t>
            </a:r>
            <a:r>
              <a:rPr sz="1600">
                <a:solidFill>
                  <a:srgbClr val="F0F0F5"/>
                </a:solidFill>
              </a:rPr>
              <a:t>New users fear the command line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371600"/>
            <a:ext cx="5029200" cy="4754880"/>
          </a:xfrm>
          <a:prstGeom prst="roundRect">
            <a:avLst/>
          </a:prstGeom>
          <a:solidFill>
            <a:srgbClr val="0A2D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0" y="155448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2C55E"/>
                </a:solidFill>
              </a:defRPr>
            </a:pPr>
            <a:r>
              <a:t>OUR SOLUTION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219456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22C55E"/>
                </a:solidFill>
              </a:rPr>
              <a:t>  &gt;  </a:t>
            </a:r>
            <a:r>
              <a:rPr sz="1600">
                <a:solidFill>
                  <a:srgbClr val="F0F0F5"/>
                </a:solidFill>
              </a:rPr>
              <a:t>Natural language -&gt; validated Linux commands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22C55E"/>
                </a:solidFill>
              </a:rPr>
              <a:t>  &gt;  </a:t>
            </a:r>
            <a:r>
              <a:rPr sz="1600">
                <a:solidFill>
                  <a:srgbClr val="F0F0F5"/>
                </a:solidFill>
              </a:rPr>
              <a:t>Local-first: Ollama keeps data on your machine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22C55E"/>
                </a:solidFill>
              </a:rPr>
              <a:t>  &gt;  </a:t>
            </a:r>
            <a:r>
              <a:rPr sz="1600">
                <a:solidFill>
                  <a:srgbClr val="F0F0F5"/>
                </a:solidFill>
              </a:rPr>
              <a:t>3-layer safety: syntax + blacklist + semantic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22C55E"/>
                </a:solidFill>
              </a:rPr>
              <a:t>  &gt;  </a:t>
            </a:r>
            <a:r>
              <a:rPr sz="1600">
                <a:solidFill>
                  <a:srgbClr val="F0F0F5"/>
                </a:solidFill>
              </a:rPr>
              <a:t>Risk classification: low / medium / high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22C55E"/>
                </a:solidFill>
              </a:rPr>
              <a:t>  &gt;  </a:t>
            </a:r>
            <a:r>
              <a:rPr sz="1600">
                <a:solidFill>
                  <a:srgbClr val="F0F0F5"/>
                </a:solidFill>
              </a:rPr>
              <a:t>Real-time terminal with live output streaming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22C55E"/>
                </a:solidFill>
              </a:rPr>
              <a:t>  &gt;  </a:t>
            </a:r>
            <a:r>
              <a:rPr sz="1600">
                <a:solidFill>
                  <a:srgbClr val="F0F0F5"/>
                </a:solidFill>
              </a:rPr>
              <a:t>Multi-distro: Arch, Ubuntu, Fedora, Alpine, SUSE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22C55E"/>
                </a:solidFill>
              </a:defRPr>
            </a:pPr>
            <a:r>
              <a:t>System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3474720" cy="4846320"/>
          </a:xfrm>
          <a:prstGeom prst="roundRect">
            <a:avLst/>
          </a:prstGeom>
          <a:solidFill>
            <a:srgbClr val="1A1D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6B6D4"/>
                </a:solidFill>
              </a:defRPr>
            </a:pPr>
            <a:r>
              <a:t>FRONTEND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03120"/>
            <a:ext cx="31089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06B6D4"/>
                </a:solidFill>
              </a:rPr>
              <a:t>  &gt;  </a:t>
            </a:r>
            <a:r>
              <a:rPr sz="1400">
                <a:solidFill>
                  <a:srgbClr val="9CA3AF"/>
                </a:solidFill>
              </a:rPr>
              <a:t>React 19 + Vite 7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06B6D4"/>
                </a:solidFill>
              </a:rPr>
              <a:t>  &gt;  </a:t>
            </a:r>
            <a:r>
              <a:rPr sz="1400">
                <a:solidFill>
                  <a:srgbClr val="9CA3AF"/>
                </a:solidFill>
              </a:rPr>
              <a:t>Tailwind CSS 4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06B6D4"/>
                </a:solidFill>
              </a:rPr>
              <a:t>  &gt;  </a:t>
            </a:r>
            <a:r>
              <a:rPr sz="1400">
                <a:solidFill>
                  <a:srgbClr val="9CA3AF"/>
                </a:solidFill>
              </a:rPr>
              <a:t>xterm.js Terminal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06B6D4"/>
                </a:solidFill>
              </a:rPr>
              <a:t>  &gt;  </a:t>
            </a:r>
            <a:r>
              <a:rPr sz="1400">
                <a:solidFill>
                  <a:srgbClr val="9CA3AF"/>
                </a:solidFill>
              </a:rPr>
              <a:t>Socket.IO Client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06B6D4"/>
                </a:solidFill>
              </a:rPr>
              <a:t>  &gt;  </a:t>
            </a:r>
            <a:r>
              <a:rPr sz="1400">
                <a:solidFill>
                  <a:srgbClr val="9CA3AF"/>
                </a:solidFill>
              </a:rPr>
              <a:t>lucide-react Icons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06B6D4"/>
                </a:solidFill>
              </a:rPr>
              <a:t>  &gt;  </a:t>
            </a:r>
            <a:r>
              <a:rPr sz="1400">
                <a:solidFill>
                  <a:srgbClr val="9CA3AF"/>
                </a:solidFill>
              </a:rPr>
              <a:t>Session Management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06B6D4"/>
                </a:solidFill>
              </a:rPr>
              <a:t>  &gt;  </a:t>
            </a:r>
            <a:r>
              <a:rPr sz="1400">
                <a:solidFill>
                  <a:srgbClr val="9CA3AF"/>
                </a:solidFill>
              </a:rPr>
              <a:t>Settings Drawer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06B6D4"/>
                </a:solidFill>
              </a:rPr>
              <a:t>  &gt;  </a:t>
            </a:r>
            <a:r>
              <a:rPr sz="1400">
                <a:solidFill>
                  <a:srgbClr val="9CA3AF"/>
                </a:solidFill>
              </a:rPr>
              <a:t>Command History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371600"/>
            <a:ext cx="3474720" cy="4846320"/>
          </a:xfrm>
          <a:prstGeom prst="roundRect">
            <a:avLst/>
          </a:prstGeom>
          <a:solidFill>
            <a:srgbClr val="1A1D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0" y="146304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A78BFA"/>
                </a:solidFill>
              </a:defRPr>
            </a:pPr>
            <a:r>
              <a:t>BACKEND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2103120"/>
            <a:ext cx="31089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A78BFA"/>
                </a:solidFill>
              </a:rPr>
              <a:t>  &gt;  </a:t>
            </a:r>
            <a:r>
              <a:rPr sz="1400">
                <a:solidFill>
                  <a:srgbClr val="9CA3AF"/>
                </a:solidFill>
              </a:rPr>
              <a:t>Express 5 + Node.js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A78BFA"/>
                </a:solidFill>
              </a:rPr>
              <a:t>  &gt;  </a:t>
            </a:r>
            <a:r>
              <a:rPr sz="1400">
                <a:solidFill>
                  <a:srgbClr val="9CA3AF"/>
                </a:solidFill>
              </a:rPr>
              <a:t>Socket.IO Server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A78BFA"/>
                </a:solidFill>
              </a:rPr>
              <a:t>  &gt;  </a:t>
            </a:r>
            <a:r>
              <a:rPr sz="1400">
                <a:solidFill>
                  <a:srgbClr val="9CA3AF"/>
                </a:solidFill>
              </a:rPr>
              <a:t>CommandProcessor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A78BFA"/>
                </a:solidFill>
              </a:rPr>
              <a:t>  &gt;  </a:t>
            </a:r>
            <a:r>
              <a:rPr sz="1400">
                <a:solidFill>
                  <a:srgbClr val="9CA3AF"/>
                </a:solidFill>
              </a:rPr>
              <a:t>CommandValidator (3-stage)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A78BFA"/>
                </a:solidFill>
              </a:rPr>
              <a:t>  &gt;  </a:t>
            </a:r>
            <a:r>
              <a:rPr sz="1400">
                <a:solidFill>
                  <a:srgbClr val="9CA3AF"/>
                </a:solidFill>
              </a:rPr>
              <a:t>LLMService (multi-provider)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A78BFA"/>
                </a:solidFill>
              </a:rPr>
              <a:t>  &gt;  </a:t>
            </a:r>
            <a:r>
              <a:rPr sz="1400">
                <a:solidFill>
                  <a:srgbClr val="9CA3AF"/>
                </a:solidFill>
              </a:rPr>
              <a:t>ResponseParser + Zod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A78BFA"/>
                </a:solidFill>
              </a:rPr>
              <a:t>  &gt;  </a:t>
            </a:r>
            <a:r>
              <a:rPr sz="1400">
                <a:solidFill>
                  <a:srgbClr val="9CA3AF"/>
                </a:solidFill>
              </a:rPr>
              <a:t>TerminalManager (PTY)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A78BFA"/>
                </a:solidFill>
              </a:rPr>
              <a:t>  &gt;  </a:t>
            </a:r>
            <a:r>
              <a:rPr sz="1400">
                <a:solidFill>
                  <a:srgbClr val="9CA3AF"/>
                </a:solidFill>
              </a:rPr>
              <a:t>SessionManager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321040" y="1371600"/>
            <a:ext cx="3474720" cy="4846320"/>
          </a:xfrm>
          <a:prstGeom prst="roundRect">
            <a:avLst/>
          </a:prstGeom>
          <a:solidFill>
            <a:srgbClr val="1A1D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0" y="146304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BBF24"/>
                </a:solidFill>
              </a:defRPr>
            </a:pPr>
            <a:r>
              <a:t>LLM PROVIDERS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2103120"/>
            <a:ext cx="31089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FBBF24"/>
                </a:solidFill>
              </a:rPr>
              <a:t>  &gt;  </a:t>
            </a:r>
            <a:r>
              <a:rPr sz="1400">
                <a:solidFill>
                  <a:srgbClr val="9CA3AF"/>
                </a:solidFill>
              </a:rPr>
              <a:t>Ollama (Primary, Local)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FBBF24"/>
                </a:solidFill>
              </a:rPr>
              <a:t>  &gt;  </a:t>
            </a:r>
            <a:r>
              <a:rPr sz="1400">
                <a:solidFill>
                  <a:srgbClr val="9CA3AF"/>
                </a:solidFill>
              </a:rPr>
              <a:t>  - mistral, phi3, llama3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FBBF24"/>
                </a:solidFill>
              </a:rPr>
              <a:t>  &gt;  </a:t>
            </a:r>
            <a:r>
              <a:rPr sz="1400">
                <a:solidFill>
                  <a:srgbClr val="9CA3AF"/>
                </a:solidFill>
              </a:rPr>
              <a:t>  - Zero network latency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FBBF24"/>
                </a:solidFill>
              </a:rPr>
              <a:t>  &gt;  </a:t>
            </a:r>
            <a:r>
              <a:rPr sz="1400">
                <a:solidFill>
                  <a:srgbClr val="9CA3AF"/>
                </a:solidFill>
              </a:rPr>
              <a:t>  - Data never leaves machine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FBBF24"/>
                </a:solidFill>
              </a:rPr>
              <a:t>  &gt;  </a:t>
            </a:r>
            <a:r>
              <a:rPr sz="1400">
                <a:solidFill>
                  <a:srgbClr val="9CA3AF"/>
                </a:solidFill>
              </a:rPr>
              <a:t>Gemini (Backup, Cloud)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FBBF24"/>
                </a:solidFill>
              </a:rPr>
              <a:t>  &gt;  </a:t>
            </a:r>
            <a:r>
              <a:rPr sz="1400">
                <a:solidFill>
                  <a:srgbClr val="9CA3AF"/>
                </a:solidFill>
              </a:rPr>
              <a:t>  - gemini-2.5-flash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FBBF24"/>
                </a:solidFill>
              </a:rPr>
              <a:t>  &gt;  </a:t>
            </a:r>
            <a:r>
              <a:rPr sz="1400">
                <a:solidFill>
                  <a:srgbClr val="9CA3AF"/>
                </a:solidFill>
              </a:rPr>
              <a:t>  - Automatic fallback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FBBF24"/>
                </a:solidFill>
              </a:rPr>
              <a:t>  &gt;  </a:t>
            </a:r>
            <a:r>
              <a:rPr sz="1400">
                <a:solidFill>
                  <a:srgbClr val="9CA3AF"/>
                </a:solidFill>
              </a:rPr>
              <a:t>  - Requires API key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3931920" y="3657600"/>
            <a:ext cx="457200" cy="320040"/>
          </a:xfrm>
          <a:prstGeom prst="rightArrow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ight Arrow 12"/>
          <p:cNvSpPr/>
          <p:nvPr/>
        </p:nvSpPr>
        <p:spPr>
          <a:xfrm>
            <a:off x="7863840" y="3657600"/>
            <a:ext cx="457200" cy="320040"/>
          </a:xfrm>
          <a:prstGeom prst="rightArrow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22C55E"/>
                </a:solidFill>
              </a:defRPr>
            </a:pPr>
            <a:r>
              <a:t>Command Generation &amp; Execution Flow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645920"/>
            <a:ext cx="1737360" cy="2011680"/>
          </a:xfrm>
          <a:prstGeom prst="roundRect">
            <a:avLst/>
          </a:prstGeom>
          <a:solidFill>
            <a:srgbClr val="1A1D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05840" y="1371600"/>
            <a:ext cx="548640" cy="54864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0F1117"/>
                </a:solidFill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01168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6B6D4"/>
                </a:solidFill>
              </a:defRPr>
            </a:pPr>
            <a:r>
              <a:t>1. USER INPUT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468880"/>
            <a:ext cx="1554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CA3AF"/>
                </a:solidFill>
              </a:defRPr>
            </a:pPr>
            <a:r>
              <a:t>Natural language</a:t>
            </a:r>
            <a:br/>
            <a:r>
              <a:t>instruction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377440" y="1645920"/>
            <a:ext cx="1737360" cy="2011680"/>
          </a:xfrm>
          <a:prstGeom prst="roundRect">
            <a:avLst/>
          </a:prstGeom>
          <a:solidFill>
            <a:srgbClr val="1A1D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926080" y="1371600"/>
            <a:ext cx="548640" cy="54864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0F1117"/>
                </a:solidFill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68880" y="201168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3B82F6"/>
                </a:solidFill>
              </a:defRPr>
            </a:pPr>
            <a:r>
              <a:t>2. LLM GENERATE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2468880"/>
            <a:ext cx="1554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CA3AF"/>
                </a:solidFill>
              </a:defRPr>
            </a:pPr>
            <a:r>
              <a:t>Ollama / Gemini</a:t>
            </a:r>
            <a:br/>
            <a:r>
              <a:t>with system context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1645920"/>
            <a:ext cx="1737360" cy="2011680"/>
          </a:xfrm>
          <a:prstGeom prst="roundRect">
            <a:avLst/>
          </a:prstGeom>
          <a:solidFill>
            <a:srgbClr val="1A1D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846320" y="1371600"/>
            <a:ext cx="548640" cy="54864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0F1117"/>
                </a:solidFill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201168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A78BFA"/>
                </a:solidFill>
              </a:defRPr>
            </a:pPr>
            <a:r>
              <a:t>3. HEURISTICS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2468880"/>
            <a:ext cx="1554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CA3AF"/>
                </a:solidFill>
              </a:defRPr>
            </a:pPr>
            <a:r>
              <a:t>Distro-aware</a:t>
            </a:r>
            <a:br/>
            <a:r>
              <a:t>command rewriting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1645920"/>
            <a:ext cx="1737360" cy="2011680"/>
          </a:xfrm>
          <a:prstGeom prst="roundRect">
            <a:avLst/>
          </a:prstGeom>
          <a:solidFill>
            <a:srgbClr val="1A1D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766560" y="1371600"/>
            <a:ext cx="548640" cy="548640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0F1117"/>
                </a:solidFill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201168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BBF24"/>
                </a:solidFill>
              </a:defRPr>
            </a:pPr>
            <a:r>
              <a:t>4. VALIDATE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2468880"/>
            <a:ext cx="1554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CA3AF"/>
                </a:solidFill>
              </a:defRPr>
            </a:pPr>
            <a:r>
              <a:t>Syntax + Blacklist</a:t>
            </a:r>
            <a:br/>
            <a:r>
              <a:t>+ Semantic (3-stage)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38160" y="1645920"/>
            <a:ext cx="1737360" cy="2011680"/>
          </a:xfrm>
          <a:prstGeom prst="roundRect">
            <a:avLst/>
          </a:prstGeom>
          <a:solidFill>
            <a:srgbClr val="1A1D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686800" y="1371600"/>
            <a:ext cx="548640" cy="54864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0F1117"/>
                </a:solidFill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201168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EF4444"/>
                </a:solidFill>
              </a:defRPr>
            </a:pPr>
            <a:r>
              <a:t>5. CONFIRM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2468880"/>
            <a:ext cx="1554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CA3AF"/>
                </a:solidFill>
              </a:defRPr>
            </a:pPr>
            <a:r>
              <a:t>Risk assessment</a:t>
            </a:r>
            <a:br/>
            <a:r>
              <a:t>user approval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058400" y="1645920"/>
            <a:ext cx="1737360" cy="2011680"/>
          </a:xfrm>
          <a:prstGeom prst="roundRect">
            <a:avLst/>
          </a:prstGeom>
          <a:solidFill>
            <a:srgbClr val="1A1D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607040" y="1371600"/>
            <a:ext cx="548640" cy="54864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0F1117"/>
                </a:solidFill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49840" y="201168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2C55E"/>
                </a:solidFill>
              </a:defRPr>
            </a:pPr>
            <a:r>
              <a:t>6. EXECUTE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149840" y="2468880"/>
            <a:ext cx="1554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CA3AF"/>
                </a:solidFill>
              </a:defRPr>
            </a:pPr>
            <a:r>
              <a:t>PTY terminal</a:t>
            </a:r>
            <a:br/>
            <a:r>
              <a:t>live streaming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4114800"/>
            <a:ext cx="11247120" cy="2286000"/>
          </a:xfrm>
          <a:prstGeom prst="roundRect">
            <a:avLst/>
          </a:prstGeom>
          <a:solidFill>
            <a:srgbClr val="111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42062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2C55E"/>
                </a:solidFill>
              </a:defRPr>
            </a:pPr>
            <a:r>
              <a:t>EXAMPLE FLOW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4663440"/>
            <a:ext cx="5029200" cy="1554480"/>
          </a:xfrm>
          <a:prstGeom prst="roundRect">
            <a:avLst/>
          </a:prstGeom>
          <a:solidFill>
            <a:srgbClr val="111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/>
            <a:r>
              <a:rPr sz="1200">
                <a:solidFill>
                  <a:srgbClr val="22C55E"/>
                </a:solidFill>
                <a:latin typeface="Consolas"/>
              </a:rPr>
              <a:t>User: "update my system"
LLM Output: {"command": "sudo apt-get update"}
Heuristic: Arch detected -&gt; sudo pacman -Syu
Validation: syntax=pass, blacklist=confirm, semantic=pass
Result: Requires confirmation (medium risk)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17920" y="4663440"/>
            <a:ext cx="5303520" cy="1554480"/>
          </a:xfrm>
          <a:prstGeom prst="roundRect">
            <a:avLst/>
          </a:prstGeom>
          <a:solidFill>
            <a:srgbClr val="111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/>
            <a:r>
              <a:rPr sz="1200">
                <a:solidFill>
                  <a:srgbClr val="22C55E"/>
                </a:solidFill>
                <a:latin typeface="Consolas"/>
              </a:rPr>
              <a:t>Provider Fallback:
  1. Try Ollama (local, 10s timeout)
  2. If fails -&gt; Try Gemini (cloud, 12s timeout)
  3. If both fail -&gt; Error to user
Heuristics override LLM for:
  Package ops, file creation, system updates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22C55E"/>
                </a:solidFill>
              </a:defRPr>
            </a:pPr>
            <a:r>
              <a:t>3-Stage Security Validation Pipeline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3474720" cy="4846320"/>
          </a:xfrm>
          <a:prstGeom prst="roundRect">
            <a:avLst/>
          </a:prstGeom>
          <a:solidFill>
            <a:srgbClr val="1A1D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188720" y="1554480"/>
            <a:ext cx="1645920" cy="320040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0F1117"/>
                </a:solidFill>
              </a:rPr>
              <a:t>STAGE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0F0F5"/>
                </a:solidFill>
              </a:defRPr>
            </a:pPr>
            <a:r>
              <a:t>Syntax Validation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651760"/>
            <a:ext cx="31089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06B6D4"/>
                </a:solidFill>
              </a:rPr>
              <a:t>  &gt;  </a:t>
            </a:r>
            <a:r>
              <a:rPr sz="1400">
                <a:solidFill>
                  <a:srgbClr val="9CA3AF"/>
                </a:solidFill>
              </a:rPr>
              <a:t>bash -n -c '&lt;command&gt;'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06B6D4"/>
                </a:solidFill>
              </a:rPr>
              <a:t>  &gt;  </a:t>
            </a:r>
            <a:r>
              <a:rPr sz="1400">
                <a:solidFill>
                  <a:srgbClr val="9CA3AF"/>
                </a:solidFill>
              </a:rPr>
              <a:t>Dry-run syntax check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06B6D4"/>
                </a:solidFill>
              </a:rPr>
              <a:t>  &gt;  </a:t>
            </a:r>
            <a:r>
              <a:rPr sz="1400">
                <a:solidFill>
                  <a:srgbClr val="9CA3AF"/>
                </a:solidFill>
              </a:rPr>
              <a:t>2-second timeout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06B6D4"/>
                </a:solidFill>
              </a:rPr>
              <a:t>  &gt;  </a:t>
            </a:r>
            <a:r>
              <a:rPr sz="1400">
                <a:solidFill>
                  <a:srgbClr val="9CA3AF"/>
                </a:solidFill>
              </a:rPr>
              <a:t>Catches unclosed quotes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06B6D4"/>
                </a:solidFill>
              </a:rPr>
              <a:t>  &gt;  </a:t>
            </a:r>
            <a:r>
              <a:rPr sz="1400">
                <a:solidFill>
                  <a:srgbClr val="9CA3AF"/>
                </a:solidFill>
              </a:rPr>
              <a:t>Catches broken pipes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06B6D4"/>
                </a:solidFill>
              </a:rPr>
              <a:t>  &gt;  </a:t>
            </a:r>
            <a:r>
              <a:rPr sz="1400">
                <a:solidFill>
                  <a:srgbClr val="9CA3AF"/>
                </a:solidFill>
              </a:rPr>
              <a:t>Catches invalid syntax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06B6D4"/>
                </a:solidFill>
              </a:rPr>
              <a:t>  &gt;  </a:t>
            </a:r>
            <a:r>
              <a:rPr sz="1400">
                <a:solidFill>
                  <a:srgbClr val="9CA3AF"/>
                </a:solidFill>
              </a:rPr>
              <a:t>BLOCKS on failure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371600"/>
            <a:ext cx="3474720" cy="4846320"/>
          </a:xfrm>
          <a:prstGeom prst="roundRect">
            <a:avLst/>
          </a:prstGeom>
          <a:solidFill>
            <a:srgbClr val="1A1D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120640" y="1554480"/>
            <a:ext cx="1645920" cy="320040"/>
          </a:xfrm>
          <a:prstGeom prst="round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0F1117"/>
                </a:solidFill>
              </a:rPr>
              <a:t>STAGE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201168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0F0F5"/>
                </a:solidFill>
              </a:defRPr>
            </a:pPr>
            <a:r>
              <a:t>Blacklist Validation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651760"/>
            <a:ext cx="31089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FBBF24"/>
                </a:solidFill>
              </a:rPr>
              <a:t>  &gt;  </a:t>
            </a:r>
            <a:r>
              <a:rPr sz="1400">
                <a:solidFill>
                  <a:srgbClr val="9CA3AF"/>
                </a:solidFill>
              </a:rPr>
              <a:t>100+ regex patterns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FBBF24"/>
                </a:solidFill>
              </a:rPr>
              <a:t>  &gt;  </a:t>
            </a:r>
            <a:r>
              <a:rPr sz="1400">
                <a:solidFill>
                  <a:srgbClr val="9CA3AF"/>
                </a:solidFill>
              </a:rPr>
              <a:t>Categories: fs-destroy,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FBBF24"/>
                </a:solidFill>
              </a:rPr>
              <a:t>  &gt;  </a:t>
            </a:r>
            <a:r>
              <a:rPr sz="1400">
                <a:solidFill>
                  <a:srgbClr val="9CA3AF"/>
                </a:solidFill>
              </a:rPr>
              <a:t>  process, privilege, network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FBBF24"/>
                </a:solidFill>
              </a:rPr>
              <a:t>  &gt;  </a:t>
            </a:r>
            <a:r>
              <a:rPr sz="1400">
                <a:solidFill>
                  <a:srgbClr val="9CA3AF"/>
                </a:solidFill>
              </a:rPr>
              <a:t>rm -rf / -&gt; BLOCKED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FBBF24"/>
                </a:solidFill>
              </a:rPr>
              <a:t>  &gt;  </a:t>
            </a:r>
            <a:r>
              <a:rPr sz="1400">
                <a:solidFill>
                  <a:srgbClr val="9CA3AF"/>
                </a:solidFill>
              </a:rPr>
              <a:t>mkfs, dd -&gt; BLOCKED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FBBF24"/>
                </a:solidFill>
              </a:rPr>
              <a:t>  &gt;  </a:t>
            </a:r>
            <a:r>
              <a:rPr sz="1400">
                <a:solidFill>
                  <a:srgbClr val="9CA3AF"/>
                </a:solidFill>
              </a:rPr>
              <a:t>fork bomb -&gt; BLOCKED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FBBF24"/>
                </a:solidFill>
              </a:rPr>
              <a:t>  &gt;  </a:t>
            </a:r>
            <a:r>
              <a:rPr sz="1400">
                <a:solidFill>
                  <a:srgbClr val="9CA3AF"/>
                </a:solidFill>
              </a:rPr>
              <a:t>sudo ops -&gt; CONFIRM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21040" y="1371600"/>
            <a:ext cx="3474720" cy="4846320"/>
          </a:xfrm>
          <a:prstGeom prst="roundRect">
            <a:avLst/>
          </a:prstGeom>
          <a:solidFill>
            <a:srgbClr val="1A1D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052560" y="1554480"/>
            <a:ext cx="1645920" cy="32004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0F1117"/>
                </a:solidFill>
              </a:rPr>
              <a:t>STAGE 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201168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0F0F5"/>
                </a:solidFill>
              </a:defRPr>
            </a:pPr>
            <a:r>
              <a:t>Semantic Validation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2651760"/>
            <a:ext cx="31089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EF4444"/>
                </a:solidFill>
              </a:rPr>
              <a:t>  &gt;  </a:t>
            </a:r>
            <a:r>
              <a:rPr sz="1400">
                <a:solidFill>
                  <a:srgbClr val="9CA3AF"/>
                </a:solidFill>
              </a:rPr>
              <a:t>LLM-based safety assessment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EF4444"/>
                </a:solidFill>
              </a:rPr>
              <a:t>  &gt;  </a:t>
            </a:r>
            <a:r>
              <a:rPr sz="1400">
                <a:solidFill>
                  <a:srgbClr val="9CA3AF"/>
                </a:solidFill>
              </a:rPr>
              <a:t>Returns: safe, confidence, reason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EF4444"/>
                </a:solidFill>
              </a:rPr>
              <a:t>  &gt;  </a:t>
            </a:r>
            <a:r>
              <a:rPr sz="1400">
                <a:solidFill>
                  <a:srgbClr val="9CA3AF"/>
                </a:solidFill>
              </a:rPr>
              <a:t>Hardcoded overrides for: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EF4444"/>
                </a:solidFill>
              </a:rPr>
              <a:t>  &gt;  </a:t>
            </a:r>
            <a:r>
              <a:rPr sz="1400">
                <a:solidFill>
                  <a:srgbClr val="9CA3AF"/>
                </a:solidFill>
              </a:rPr>
              <a:t>  rm -rf, mkfs, dd -&gt; BLOCK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EF4444"/>
                </a:solidFill>
              </a:rPr>
              <a:t>  &gt;  </a:t>
            </a:r>
            <a:r>
              <a:rPr sz="1400">
                <a:solidFill>
                  <a:srgbClr val="9CA3AF"/>
                </a:solidFill>
              </a:rPr>
              <a:t>Low confidence -&gt; CONFIRM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EF4444"/>
                </a:solidFill>
              </a:rPr>
              <a:t>  &gt;  </a:t>
            </a:r>
            <a:r>
              <a:rPr sz="1400">
                <a:solidFill>
                  <a:srgbClr val="9CA3AF"/>
                </a:solidFill>
              </a:rPr>
              <a:t>Falls back to CONFIRM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EF4444"/>
                </a:solidFill>
              </a:rPr>
              <a:t>  &gt;  </a:t>
            </a:r>
            <a:r>
              <a:rPr sz="1400">
                <a:solidFill>
                  <a:srgbClr val="9CA3AF"/>
                </a:solidFill>
              </a:rPr>
              <a:t>  if LLM unavailable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22C55E"/>
                </a:solidFill>
              </a:defRPr>
            </a:pPr>
            <a:r>
              <a:t>RAG System &amp; Instruction Heuristics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5486400" cy="4846320"/>
          </a:xfrm>
          <a:prstGeom prst="roundRect">
            <a:avLst/>
          </a:prstGeom>
          <a:solidFill>
            <a:srgbClr val="1A1D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A78BFA"/>
                </a:solidFill>
              </a:defRPr>
            </a:pPr>
            <a:r>
              <a:t>Knowledge Base (knowledge.json)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CA3AF"/>
                </a:solidFill>
              </a:defRPr>
            </a:pPr>
            <a:r>
              <a:t>2,485 lines of pre-computed command mappings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651760"/>
            <a:ext cx="4937760" cy="1828800"/>
          </a:xfrm>
          <a:prstGeom prst="roundRect">
            <a:avLst/>
          </a:prstGeom>
          <a:solidFill>
            <a:srgbClr val="111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/>
            <a:r>
              <a:rPr sz="1300">
                <a:solidFill>
                  <a:srgbClr val="22C55E"/>
                </a:solidFill>
                <a:latin typeface="Consolas"/>
              </a:rPr>
              <a:t>{
  "task": "install nginx",
  "arch": "sudo pacman -S nginx",
  "ubuntu": "sudo apt install nginx",
  "fedora": "sudo dnf install nginx",
  "alpine": "sudo apk add nginx",
  "risk": "low"
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663440"/>
            <a:ext cx="4937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A78BFA"/>
                </a:solidFill>
              </a:rPr>
              <a:t>  &gt;  </a:t>
            </a:r>
            <a:r>
              <a:rPr sz="1400">
                <a:solidFill>
                  <a:srgbClr val="9CA3AF"/>
                </a:solidFill>
              </a:rPr>
              <a:t>Fuzzy search with fast-fuzzy (0.8 threshold)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A78BFA"/>
                </a:solidFill>
              </a:rPr>
              <a:t>  &gt;  </a:t>
            </a:r>
            <a:r>
              <a:rPr sz="1400">
                <a:solidFill>
                  <a:srgbClr val="9CA3AF"/>
                </a:solidFill>
              </a:rPr>
              <a:t>Covers: networking, packages, services, files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A78BFA"/>
                </a:solidFill>
              </a:rPr>
              <a:t>  &gt;  </a:t>
            </a:r>
            <a:r>
              <a:rPr sz="1400">
                <a:solidFill>
                  <a:srgbClr val="9CA3AF"/>
                </a:solidFill>
              </a:rPr>
              <a:t>Auto-generated and updatable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5486400" cy="4846320"/>
          </a:xfrm>
          <a:prstGeom prst="roundRect">
            <a:avLst/>
          </a:prstGeom>
          <a:solidFill>
            <a:srgbClr val="1A1D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55448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6B6D4"/>
                </a:solidFill>
              </a:defRPr>
            </a:pPr>
            <a:r>
              <a:t>Instruction Heuristics Engine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194560"/>
            <a:ext cx="49377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06B6D4"/>
                </a:solidFill>
              </a:rPr>
              <a:t>  &gt;  </a:t>
            </a:r>
            <a:r>
              <a:rPr sz="1400">
                <a:solidFill>
                  <a:srgbClr val="9CA3AF"/>
                </a:solidFill>
              </a:rPr>
              <a:t>Package Management (5 distros)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06B6D4"/>
                </a:solidFill>
              </a:rPr>
              <a:t>  &gt;  </a:t>
            </a:r>
            <a:r>
              <a:rPr sz="1400">
                <a:solidFill>
                  <a:srgbClr val="9CA3AF"/>
                </a:solidFill>
              </a:rPr>
              <a:t>  install/remove/update/search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06B6D4"/>
                </a:solidFill>
              </a:rPr>
              <a:t>  &gt;  </a:t>
            </a:r>
            <a:r>
              <a:rPr sz="1400">
                <a:solidFill>
                  <a:srgbClr val="9CA3AF"/>
                </a:solidFill>
              </a:rPr>
              <a:t>File Operations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06B6D4"/>
                </a:solidFill>
              </a:rPr>
              <a:t>  &gt;  </a:t>
            </a:r>
            <a:r>
              <a:rPr sz="1400">
                <a:solidFill>
                  <a:srgbClr val="9CA3AF"/>
                </a:solidFill>
              </a:rPr>
              <a:t>  create/write with path detection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06B6D4"/>
                </a:solidFill>
              </a:rPr>
              <a:t>  &gt;  </a:t>
            </a:r>
            <a:r>
              <a:rPr sz="1400">
                <a:solidFill>
                  <a:srgbClr val="9CA3AF"/>
                </a:solidFill>
              </a:rPr>
              <a:t>  Protected path -&gt; sudo tee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06B6D4"/>
                </a:solidFill>
              </a:rPr>
              <a:t>  &gt;  </a:t>
            </a:r>
            <a:r>
              <a:rPr sz="1400">
                <a:solidFill>
                  <a:srgbClr val="9CA3AF"/>
                </a:solidFill>
              </a:rPr>
              <a:t>  User path -&gt; direct write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06B6D4"/>
                </a:solidFill>
              </a:rPr>
              <a:t>  &gt;  </a:t>
            </a:r>
            <a:r>
              <a:rPr sz="1400">
                <a:solidFill>
                  <a:srgbClr val="9CA3AF"/>
                </a:solidFill>
              </a:rPr>
              <a:t>Directory Creation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06B6D4"/>
                </a:solidFill>
              </a:rPr>
              <a:t>  &gt;  </a:t>
            </a:r>
            <a:r>
              <a:rPr sz="1400">
                <a:solidFill>
                  <a:srgbClr val="9CA3AF"/>
                </a:solidFill>
              </a:rPr>
              <a:t>  Auto sudo for /etc, /usr, /var...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06B6D4"/>
                </a:solidFill>
              </a:rPr>
              <a:t>  &gt;  </a:t>
            </a:r>
            <a:r>
              <a:rPr sz="1400">
                <a:solidFill>
                  <a:srgbClr val="9CA3AF"/>
                </a:solidFill>
              </a:rPr>
              <a:t>File Search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06B6D4"/>
                </a:solidFill>
              </a:rPr>
              <a:t>  &gt;  </a:t>
            </a:r>
            <a:r>
              <a:rPr sz="1400">
                <a:solidFill>
                  <a:srgbClr val="9CA3AF"/>
                </a:solidFill>
              </a:rPr>
              <a:t>  find by name, size, type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06B6D4"/>
                </a:solidFill>
              </a:rPr>
              <a:t>  &gt;  </a:t>
            </a:r>
            <a:r>
              <a:rPr sz="1400">
                <a:solidFill>
                  <a:srgbClr val="9CA3AF"/>
                </a:solidFill>
              </a:rPr>
              <a:t>Privileged Redirect Rewrite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06B6D4"/>
                </a:solidFill>
              </a:rPr>
              <a:t>  &gt;  </a:t>
            </a:r>
            <a:r>
              <a:rPr sz="1400">
                <a:solidFill>
                  <a:srgbClr val="9CA3AF"/>
                </a:solidFill>
              </a:rPr>
              <a:t>  sudo echo &gt; /etc -&gt; sudo tee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22C55E"/>
                </a:solidFill>
              </a:defRPr>
            </a:pPr>
            <a:r>
              <a:t>Frontend Interface &amp; Components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3474720" cy="2194560"/>
          </a:xfrm>
          <a:prstGeom prst="roundRect">
            <a:avLst/>
          </a:prstGeom>
          <a:solidFill>
            <a:srgbClr val="1A1D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50876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6B6D4"/>
                </a:solidFill>
              </a:defRPr>
            </a:pPr>
            <a:r>
              <a:t>ChatInput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CA3AF"/>
                </a:solidFill>
              </a:defRPr>
            </a:pPr>
            <a:r>
              <a:t>Natural language input</a:t>
            </a:r>
            <a:br/>
            <a:r>
              <a:t>with Enter to send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1371600"/>
            <a:ext cx="3474720" cy="2194560"/>
          </a:xfrm>
          <a:prstGeom prst="roundRect">
            <a:avLst/>
          </a:prstGeom>
          <a:solidFill>
            <a:srgbClr val="1A1D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97680" y="150876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A78BFA"/>
                </a:solidFill>
              </a:defRPr>
            </a:pPr>
            <a:r>
              <a:t>CommandBlock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201168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CA3AF"/>
                </a:solidFill>
              </a:defRPr>
            </a:pPr>
            <a:r>
              <a:t>Command card with</a:t>
            </a:r>
            <a:br/>
            <a:r>
              <a:t>risk badge, validation</a:t>
            </a:r>
            <a:br/>
            <a:r>
              <a:t>status, run/copy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1371600"/>
            <a:ext cx="3474720" cy="2194560"/>
          </a:xfrm>
          <a:prstGeom prst="roundRect">
            <a:avLst/>
          </a:prstGeom>
          <a:solidFill>
            <a:srgbClr val="1A1D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38160" y="150876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22C55E"/>
                </a:solidFill>
              </a:defRPr>
            </a:pPr>
            <a:r>
              <a:t>TerminalPanel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0" y="201168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CA3AF"/>
                </a:solidFill>
              </a:defRPr>
            </a:pPr>
            <a:r>
              <a:t>Real xterm.js terminal</a:t>
            </a:r>
            <a:br/>
            <a:r>
              <a:t>live PTY streaming</a:t>
            </a:r>
            <a:br/>
            <a:r>
              <a:t>copy/clear controls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931920"/>
            <a:ext cx="3474720" cy="2194560"/>
          </a:xfrm>
          <a:prstGeom prst="roundRect">
            <a:avLst/>
          </a:prstGeom>
          <a:solidFill>
            <a:srgbClr val="1A1D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406908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BBF24"/>
                </a:solidFill>
              </a:defRPr>
            </a:pPr>
            <a:r>
              <a:t>SettingsDrawer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57200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CA3AF"/>
                </a:solidFill>
              </a:defRPr>
            </a:pPr>
            <a:r>
              <a:t>Provider &amp; model</a:t>
            </a:r>
            <a:br/>
            <a:r>
              <a:t>selection, session</a:t>
            </a:r>
            <a:br/>
            <a:r>
              <a:t>management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97680" y="3931920"/>
            <a:ext cx="3474720" cy="2194560"/>
          </a:xfrm>
          <a:prstGeom prst="roundRect">
            <a:avLst/>
          </a:prstGeom>
          <a:solidFill>
            <a:srgbClr val="1A1D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97680" y="406908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3B82F6"/>
                </a:solidFill>
              </a:defRPr>
            </a:pPr>
            <a:r>
              <a:t>HistoryPanel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457200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CA3AF"/>
                </a:solidFill>
              </a:defRPr>
            </a:pPr>
            <a:r>
              <a:t>Executed command</a:t>
            </a:r>
            <a:br/>
            <a:r>
              <a:t>log with status</a:t>
            </a:r>
            <a:br/>
            <a:r>
              <a:t>and exit codes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38160" y="3931920"/>
            <a:ext cx="3474720" cy="2194560"/>
          </a:xfrm>
          <a:prstGeom prst="roundRect">
            <a:avLst/>
          </a:prstGeom>
          <a:solidFill>
            <a:srgbClr val="1A1D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38160" y="406908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EF4444"/>
                </a:solidFill>
              </a:defRPr>
            </a:pPr>
            <a:r>
              <a:t>ConfirmModal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457200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CA3AF"/>
                </a:solidFill>
              </a:defRPr>
            </a:pPr>
            <a:r>
              <a:t>Risk confirmation</a:t>
            </a:r>
            <a:br/>
            <a:r>
              <a:t>dialog for medium/</a:t>
            </a:r>
            <a:br/>
            <a:r>
              <a:t>high risk commands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22C55E"/>
                </a:solidFill>
              </a:defRPr>
            </a:pPr>
            <a:r>
              <a:t>Real-Time Communication (Socket.IO + PTY)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5486400" cy="4846320"/>
          </a:xfrm>
          <a:prstGeom prst="roundRect">
            <a:avLst/>
          </a:prstGeom>
          <a:solidFill>
            <a:srgbClr val="1A1D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B82F6"/>
                </a:solidFill>
              </a:defRPr>
            </a:pPr>
            <a:r>
              <a:t>Socket.IO Event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94560"/>
            <a:ext cx="4937760" cy="3657600"/>
          </a:xfrm>
          <a:prstGeom prst="roundRect">
            <a:avLst/>
          </a:prstGeom>
          <a:solidFill>
            <a:srgbClr val="111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/>
            <a:r>
              <a:rPr sz="1300">
                <a:solidFill>
                  <a:srgbClr val="22C55E"/>
                </a:solidFill>
                <a:latin typeface="Consolas"/>
              </a:rPr>
              <a:t>CLIENT -&gt; SERVER:
  terminal:input    (keystrokes to PTY)
  terminal:resize   (cols/rows sync)
  command:cancel     (kill execution)
SERVER -&gt; CLIENT:
  connection:ready   (handshake + sessionId)
  terminal:ready     (PTY spawned)
  terminal:output    (streaming output)
  terminal:exit      (exitCode + output)
  command:status     (running/completed/failed)
  command:diagnosis  (LLM failure analysis)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71600"/>
            <a:ext cx="5486400" cy="4846320"/>
          </a:xfrm>
          <a:prstGeom prst="roundRect">
            <a:avLst/>
          </a:prstGeom>
          <a:solidFill>
            <a:srgbClr val="1A1D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55448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A78BFA"/>
                </a:solidFill>
              </a:defRPr>
            </a:pPr>
            <a:r>
              <a:t>PTY Terminal Management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2194560"/>
            <a:ext cx="49377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A78BFA"/>
                </a:solidFill>
              </a:rPr>
              <a:t>  &gt;  </a:t>
            </a:r>
            <a:r>
              <a:rPr sz="1400">
                <a:solidFill>
                  <a:srgbClr val="9CA3AF"/>
                </a:solidFill>
              </a:rPr>
              <a:t>node-pty for real terminal sessions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A78BFA"/>
                </a:solidFill>
              </a:rPr>
              <a:t>  &gt;  </a:t>
            </a:r>
            <a:r>
              <a:rPr sz="1400">
                <a:solidFill>
                  <a:srgbClr val="9CA3AF"/>
                </a:solidFill>
              </a:rPr>
              <a:t>Two PTY instances per session: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A78BFA"/>
                </a:solidFill>
              </a:rPr>
              <a:t>  &gt;  </a:t>
            </a:r>
            <a:r>
              <a:rPr sz="1400">
                <a:solidFill>
                  <a:srgbClr val="9CA3AF"/>
                </a:solidFill>
              </a:rPr>
              <a:t>  Shell: Interactive bash -i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A78BFA"/>
                </a:solidFill>
              </a:rPr>
              <a:t>  &gt;  </a:t>
            </a:r>
            <a:r>
              <a:rPr sz="1400">
                <a:solidFill>
                  <a:srgbClr val="9CA3AF"/>
                </a:solidFill>
              </a:rPr>
              <a:t>  Execution: Single-command bash -lc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A78BFA"/>
                </a:solidFill>
              </a:rPr>
              <a:t>  &gt;  </a:t>
            </a:r>
            <a:r>
              <a:rPr sz="1400">
                <a:solidFill>
                  <a:srgbClr val="9CA3AF"/>
                </a:solidFill>
              </a:rPr>
              <a:t>Buffered output: 2KB max, 50ms flush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A78BFA"/>
                </a:solidFill>
              </a:rPr>
              <a:t>  &gt;  </a:t>
            </a:r>
            <a:r>
              <a:rPr sz="1400">
                <a:solidFill>
                  <a:srgbClr val="9CA3AF"/>
                </a:solidFill>
              </a:rPr>
              <a:t>Sudo password detection &amp; input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A78BFA"/>
                </a:solidFill>
              </a:rPr>
              <a:t>  &gt;  </a:t>
            </a:r>
            <a:r>
              <a:rPr sz="1400">
                <a:solidFill>
                  <a:srgbClr val="9CA3AF"/>
                </a:solidFill>
              </a:rPr>
              <a:t>Signal handling (Ctrl+C = \u0003)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A78BFA"/>
                </a:solidFill>
              </a:rPr>
              <a:t>  &gt;  </a:t>
            </a:r>
            <a:r>
              <a:rPr sz="1400">
                <a:solidFill>
                  <a:srgbClr val="9CA3AF"/>
                </a:solidFill>
              </a:rPr>
              <a:t>PTY resize sync (20-500 cols)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A78BFA"/>
                </a:solidFill>
              </a:rPr>
              <a:t>  &gt;  </a:t>
            </a:r>
            <a:r>
              <a:rPr sz="1400">
                <a:solidFill>
                  <a:srgbClr val="9CA3AF"/>
                </a:solidFill>
              </a:rPr>
              <a:t>Last 8KB captured for diagnosis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A78BFA"/>
                </a:solidFill>
              </a:rPr>
              <a:t>  &gt;  </a:t>
            </a:r>
            <a:r>
              <a:rPr sz="1400">
                <a:solidFill>
                  <a:srgbClr val="9CA3AF"/>
                </a:solidFill>
              </a:rPr>
              <a:t>30-second execution timeout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A78BFA"/>
                </a:solidFill>
              </a:rPr>
              <a:t>  &gt;  </a:t>
            </a:r>
            <a:r>
              <a:rPr sz="1400">
                <a:solidFill>
                  <a:srgbClr val="9CA3AF"/>
                </a:solidFill>
              </a:rPr>
              <a:t>Clean process kill on disconnect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22C55E"/>
                </a:solidFill>
              </a:defRPr>
            </a:pPr>
            <a:r>
              <a:t>Security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1371600"/>
            <a:ext cx="2743200" cy="4846320"/>
          </a:xfrm>
          <a:prstGeom prst="roundRect">
            <a:avLst/>
          </a:prstGeom>
          <a:solidFill>
            <a:srgbClr val="1A1D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554480"/>
            <a:ext cx="1645920" cy="320040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0F1117"/>
                </a:solidFill>
              </a:rPr>
              <a:t>LAYER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21031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0F0F5"/>
                </a:solidFill>
              </a:defRPr>
            </a:pPr>
            <a:r>
              <a:t>Input Validation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0"/>
            <a:ext cx="23774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06B6D4"/>
                </a:solidFill>
              </a:rPr>
              <a:t>  &gt;  </a:t>
            </a:r>
            <a:r>
              <a:rPr sz="1300">
                <a:solidFill>
                  <a:srgbClr val="9CA3AF"/>
                </a:solidFill>
              </a:rPr>
              <a:t>Instruction max 2000 chars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06B6D4"/>
                </a:solidFill>
              </a:rPr>
              <a:t>  &gt;  </a:t>
            </a:r>
            <a:r>
              <a:rPr sz="1300">
                <a:solidFill>
                  <a:srgbClr val="9CA3AF"/>
                </a:solidFill>
              </a:rPr>
              <a:t>UUID format validation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06B6D4"/>
                </a:solidFill>
              </a:rPr>
              <a:t>  &gt;  </a:t>
            </a:r>
            <a:r>
              <a:rPr sz="1300">
                <a:solidFill>
                  <a:srgbClr val="9CA3AF"/>
                </a:solidFill>
              </a:rPr>
              <a:t>Provider whitelist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06B6D4"/>
                </a:solidFill>
              </a:rPr>
              <a:t>  &gt;  </a:t>
            </a:r>
            <a:r>
              <a:rPr sz="1300">
                <a:solidFill>
                  <a:srgbClr val="9CA3AF"/>
                </a:solidFill>
              </a:rPr>
              <a:t>Model length limit (128)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0" y="1371600"/>
            <a:ext cx="2743200" cy="4846320"/>
          </a:xfrm>
          <a:prstGeom prst="roundRect">
            <a:avLst/>
          </a:prstGeom>
          <a:solidFill>
            <a:srgbClr val="1A1D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566160" y="1554480"/>
            <a:ext cx="1645920" cy="320040"/>
          </a:xfrm>
          <a:prstGeom prst="round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0F1117"/>
                </a:solidFill>
              </a:rPr>
              <a:t>LAYER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21031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0F0F5"/>
                </a:solidFill>
              </a:defRPr>
            </a:pPr>
            <a:r>
              <a:t>Execution Safety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2743200"/>
            <a:ext cx="23774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FBBF24"/>
                </a:solidFill>
              </a:rPr>
              <a:t>  &gt;  </a:t>
            </a:r>
            <a:r>
              <a:rPr sz="1300">
                <a:solidFill>
                  <a:srgbClr val="9CA3AF"/>
                </a:solidFill>
              </a:rPr>
              <a:t>3-stage validation pipeline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FBBF24"/>
                </a:solidFill>
              </a:rPr>
              <a:t>  &gt;  </a:t>
            </a:r>
            <a:r>
              <a:rPr sz="1300">
                <a:solidFill>
                  <a:srgbClr val="9CA3AF"/>
                </a:solidFill>
              </a:rPr>
              <a:t>100+ blacklist regex rules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FBBF24"/>
                </a:solidFill>
              </a:rPr>
              <a:t>  &gt;  </a:t>
            </a:r>
            <a:r>
              <a:rPr sz="1300">
                <a:solidFill>
                  <a:srgbClr val="9CA3AF"/>
                </a:solidFill>
              </a:rPr>
              <a:t>Hardcoded overrides for lethal commands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FBBF24"/>
                </a:solidFill>
              </a:rPr>
              <a:t>  &gt;  </a:t>
            </a:r>
            <a:r>
              <a:rPr sz="1300">
                <a:solidFill>
                  <a:srgbClr val="9CA3AF"/>
                </a:solidFill>
              </a:rPr>
              <a:t>Risk-based confirmation flow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371600"/>
            <a:ext cx="2743200" cy="4846320"/>
          </a:xfrm>
          <a:prstGeom prst="roundRect">
            <a:avLst/>
          </a:prstGeom>
          <a:solidFill>
            <a:srgbClr val="1A1D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92240" y="1554480"/>
            <a:ext cx="1645920" cy="320040"/>
          </a:xfrm>
          <a:prstGeom prst="round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0F1117"/>
                </a:solidFill>
              </a:rPr>
              <a:t>LAYER 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21031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0F0F5"/>
                </a:solidFill>
              </a:defRPr>
            </a:pPr>
            <a:r>
              <a:t>Network Security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2743200"/>
            <a:ext cx="23774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A78BFA"/>
                </a:solidFill>
              </a:rPr>
              <a:t>  &gt;  </a:t>
            </a:r>
            <a:r>
              <a:rPr sz="1300">
                <a:solidFill>
                  <a:srgbClr val="9CA3AF"/>
                </a:solidFill>
              </a:rPr>
              <a:t>CORS origin whitelist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A78BFA"/>
                </a:solidFill>
              </a:rPr>
              <a:t>  &gt;  </a:t>
            </a:r>
            <a:r>
              <a:rPr sz="1300">
                <a:solidFill>
                  <a:srgbClr val="9CA3AF"/>
                </a:solidFill>
              </a:rPr>
              <a:t>Rate limit: 30 req/min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A78BFA"/>
                </a:solidFill>
              </a:rPr>
              <a:t>  &gt;  </a:t>
            </a:r>
            <a:r>
              <a:rPr sz="1300">
                <a:solidFill>
                  <a:srgbClr val="9CA3AF"/>
                </a:solidFill>
              </a:rPr>
              <a:t>Socket: 100 events/10s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A78BFA"/>
                </a:solidFill>
              </a:rPr>
              <a:t>  &gt;  </a:t>
            </a:r>
            <a:r>
              <a:rPr sz="1300">
                <a:solidFill>
                  <a:srgbClr val="9CA3AF"/>
                </a:solidFill>
              </a:rPr>
              <a:t>Helmet headers (CSP, HSTS)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52560" y="1371600"/>
            <a:ext cx="2743200" cy="4846320"/>
          </a:xfrm>
          <a:prstGeom prst="roundRect">
            <a:avLst/>
          </a:prstGeom>
          <a:solidFill>
            <a:srgbClr val="1A1D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418320" y="1554480"/>
            <a:ext cx="1645920" cy="320040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0F1117"/>
                </a:solidFill>
              </a:rPr>
              <a:t>LAYER 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52560" y="21031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0F0F5"/>
                </a:solidFill>
              </a:defRPr>
            </a:pPr>
            <a:r>
              <a:t>Data Protection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35440" y="2743200"/>
            <a:ext cx="23774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22C55E"/>
                </a:solidFill>
              </a:rPr>
              <a:t>  &gt;  </a:t>
            </a:r>
            <a:r>
              <a:rPr sz="1300">
                <a:solidFill>
                  <a:srgbClr val="9CA3AF"/>
                </a:solidFill>
              </a:rPr>
              <a:t>Local-first (Ollama on machine)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22C55E"/>
                </a:solidFill>
              </a:rPr>
              <a:t>  &gt;  </a:t>
            </a:r>
            <a:r>
              <a:rPr sz="1300">
                <a:solidFill>
                  <a:srgbClr val="9CA3AF"/>
                </a:solidFill>
              </a:rPr>
              <a:t>No external logging of outputs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22C55E"/>
                </a:solidFill>
              </a:rPr>
              <a:t>  &gt;  </a:t>
            </a:r>
            <a:r>
              <a:rPr sz="1300">
                <a:solidFill>
                  <a:srgbClr val="9CA3AF"/>
                </a:solidFill>
              </a:rPr>
              <a:t>Session isolation (UUID)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22C55E"/>
                </a:solidFill>
              </a:rPr>
              <a:t>  &gt;  </a:t>
            </a:r>
            <a:r>
              <a:rPr sz="1300">
                <a:solidFill>
                  <a:srgbClr val="9CA3AF"/>
                </a:solidFill>
              </a:rPr>
              <a:t>Auto-cleanup after 30min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22C55E"/>
                </a:solidFill>
              </a:defRPr>
            </a:pPr>
            <a:r>
              <a:t>Multi-Distribution Support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280160"/>
            <a:ext cx="11247120" cy="914400"/>
          </a:xfrm>
          <a:prstGeom prst="roundRect">
            <a:avLst/>
          </a:prstGeom>
          <a:solidFill>
            <a:srgbClr val="1A1D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2286000" cy="320040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0F1117"/>
                </a:solidFill>
              </a:rPr>
              <a:t>Arch Linux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13716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6B6D4"/>
                </a:solidFill>
              </a:defRPr>
            </a:pPr>
            <a:r>
              <a:t>pacman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91840" y="1737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</a:defRPr>
            </a:pPr>
            <a:r>
              <a:t>pkg manager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937760" y="1417320"/>
            <a:ext cx="6583680" cy="594360"/>
          </a:xfrm>
          <a:prstGeom prst="roundRect">
            <a:avLst/>
          </a:prstGeom>
          <a:solidFill>
            <a:srgbClr val="111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/>
            <a:r>
              <a:rPr sz="1200">
                <a:solidFill>
                  <a:srgbClr val="22C55E"/>
                </a:solidFill>
                <a:latin typeface="Consolas"/>
              </a:rPr>
              <a:t>$ sudo pacman -Syu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331720"/>
            <a:ext cx="11247120" cy="914400"/>
          </a:xfrm>
          <a:prstGeom prst="roundRect">
            <a:avLst/>
          </a:prstGeom>
          <a:solidFill>
            <a:srgbClr val="1A1D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2606040"/>
            <a:ext cx="2286000" cy="320040"/>
          </a:xfrm>
          <a:prstGeom prst="round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0F1117"/>
                </a:solidFill>
              </a:rPr>
              <a:t>Ubuntu / Debian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0" y="24231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BBF24"/>
                </a:solidFill>
              </a:defRPr>
            </a:pPr>
            <a:r>
              <a:t>apt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40" y="2788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</a:defRPr>
            </a:pPr>
            <a:r>
              <a:t>pkg manager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937760" y="2468880"/>
            <a:ext cx="6583680" cy="594360"/>
          </a:xfrm>
          <a:prstGeom prst="roundRect">
            <a:avLst/>
          </a:prstGeom>
          <a:solidFill>
            <a:srgbClr val="111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/>
            <a:r>
              <a:rPr sz="1200">
                <a:solidFill>
                  <a:srgbClr val="22C55E"/>
                </a:solidFill>
                <a:latin typeface="Consolas"/>
              </a:rPr>
              <a:t>$ sudo apt update &amp;&amp; sudo apt upgrade -y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383279"/>
            <a:ext cx="11247120" cy="914400"/>
          </a:xfrm>
          <a:prstGeom prst="roundRect">
            <a:avLst/>
          </a:prstGeom>
          <a:solidFill>
            <a:srgbClr val="1A1D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31520" y="3657599"/>
            <a:ext cx="2286000" cy="32004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0F1117"/>
                </a:solidFill>
              </a:rPr>
              <a:t>Fedora / RHEL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40" y="3474719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B82F6"/>
                </a:solidFill>
              </a:defRPr>
            </a:pPr>
            <a:r>
              <a:t>dnf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91840" y="3840479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</a:defRPr>
            </a:pPr>
            <a:r>
              <a:t>pkg manager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937760" y="3520439"/>
            <a:ext cx="6583680" cy="594360"/>
          </a:xfrm>
          <a:prstGeom prst="roundRect">
            <a:avLst/>
          </a:prstGeom>
          <a:solidFill>
            <a:srgbClr val="111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/>
            <a:r>
              <a:rPr sz="1200">
                <a:solidFill>
                  <a:srgbClr val="22C55E"/>
                </a:solidFill>
                <a:latin typeface="Consolas"/>
              </a:rPr>
              <a:t>$ sudo dnf upgrade --refresh -y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4434840"/>
            <a:ext cx="11247120" cy="914400"/>
          </a:xfrm>
          <a:prstGeom prst="roundRect">
            <a:avLst/>
          </a:prstGeom>
          <a:solidFill>
            <a:srgbClr val="1A1D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31520" y="4709160"/>
            <a:ext cx="2286000" cy="320040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0F1117"/>
                </a:solidFill>
              </a:rPr>
              <a:t>openSUSE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91840" y="45262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2C55E"/>
                </a:solidFill>
              </a:defRPr>
            </a:pPr>
            <a:r>
              <a:t>zypper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91840" y="48920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</a:defRPr>
            </a:pPr>
            <a:r>
              <a:t>pkg manager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937760" y="4572000"/>
            <a:ext cx="6583680" cy="594360"/>
          </a:xfrm>
          <a:prstGeom prst="roundRect">
            <a:avLst/>
          </a:prstGeom>
          <a:solidFill>
            <a:srgbClr val="111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/>
            <a:r>
              <a:rPr sz="1200">
                <a:solidFill>
                  <a:srgbClr val="22C55E"/>
                </a:solidFill>
                <a:latin typeface="Consolas"/>
              </a:rPr>
              <a:t>$ sudo zypper refresh &amp;&amp; sudo zypper update -y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5486400"/>
            <a:ext cx="11247120" cy="914400"/>
          </a:xfrm>
          <a:prstGeom prst="roundRect">
            <a:avLst/>
          </a:prstGeom>
          <a:solidFill>
            <a:srgbClr val="1A1D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31520" y="5760720"/>
            <a:ext cx="2286000" cy="320040"/>
          </a:xfrm>
          <a:prstGeom prst="round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0F1117"/>
                </a:solidFill>
              </a:rPr>
              <a:t>Alpine Linux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91840" y="55778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A78BFA"/>
                </a:solidFill>
              </a:defRPr>
            </a:pPr>
            <a:r>
              <a:t>apk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91840" y="59436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</a:defRPr>
            </a:pPr>
            <a:r>
              <a:t>pkg manager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937760" y="5623560"/>
            <a:ext cx="6583680" cy="594360"/>
          </a:xfrm>
          <a:prstGeom prst="roundRect">
            <a:avLst/>
          </a:prstGeom>
          <a:solidFill>
            <a:srgbClr val="111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/>
            <a:r>
              <a:rPr sz="1200">
                <a:solidFill>
                  <a:srgbClr val="22C55E"/>
                </a:solidFill>
                <a:latin typeface="Consolas"/>
              </a:rPr>
              <a:t>$ sudo apk update &amp;&amp; sudo apk upgrade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22C55E"/>
                </a:solidFill>
              </a:defRPr>
            </a:pPr>
            <a:r>
              <a:t>Testing &amp; Quality Assurance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280160"/>
            <a:ext cx="3200400" cy="1645920"/>
          </a:xfrm>
          <a:prstGeom prst="roundRect">
            <a:avLst/>
          </a:prstGeom>
          <a:solidFill>
            <a:srgbClr val="1A1D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22C55E"/>
                </a:solidFill>
              </a:defRPr>
            </a:pPr>
            <a:r>
              <a:t>168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945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CA3AF"/>
                </a:solidFill>
              </a:defRPr>
            </a:pPr>
            <a:r>
              <a:t>Total Tests Passing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931920" y="1280160"/>
            <a:ext cx="2286000" cy="1645920"/>
          </a:xfrm>
          <a:prstGeom prst="roundRect">
            <a:avLst/>
          </a:prstGeom>
          <a:solidFill>
            <a:srgbClr val="1A1D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931920" y="1371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3B82F6"/>
                </a:solidFill>
              </a:defRPr>
            </a:pPr>
            <a: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0" y="21945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CA3AF"/>
                </a:solidFill>
              </a:defRPr>
            </a:pPr>
            <a:r>
              <a:t>Test Files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92240" y="1280160"/>
            <a:ext cx="2560320" cy="1645920"/>
          </a:xfrm>
          <a:prstGeom prst="roundRect">
            <a:avLst/>
          </a:prstGeom>
          <a:solidFill>
            <a:srgbClr val="1A1D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37160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A78BFA"/>
                </a:solidFill>
              </a:defRPr>
            </a:pPr>
            <a:r>
              <a:t>172ms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19456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CA3AF"/>
                </a:solidFill>
              </a:defRPr>
            </a:pPr>
            <a:r>
              <a:t>Execution Time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326880" y="1280160"/>
            <a:ext cx="2560320" cy="1645920"/>
          </a:xfrm>
          <a:prstGeom prst="roundRect">
            <a:avLst/>
          </a:prstGeom>
          <a:solidFill>
            <a:srgbClr val="1A1D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0" y="137160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22C55E"/>
                </a:solidFill>
              </a:defRPr>
            </a:pPr>
            <a:r>
              <a:t>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0" y="219456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CA3AF"/>
                </a:solidFill>
              </a:defRPr>
            </a:pPr>
            <a:r>
              <a:t>Failures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200400"/>
            <a:ext cx="11247120" cy="640080"/>
          </a:xfrm>
          <a:prstGeom prst="roundRect">
            <a:avLst/>
          </a:prstGeom>
          <a:solidFill>
            <a:srgbClr val="1A1D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40080" y="3355848"/>
            <a:ext cx="822960" cy="32004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0F1117"/>
                </a:solidFill>
              </a:rPr>
              <a:t>40+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0" y="3273552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0F0F5"/>
                </a:solidFill>
              </a:defRPr>
            </a:pPr>
            <a:r>
              <a:t>Validator Tests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0" y="32461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CA3AF"/>
                </a:solidFill>
              </a:defRPr>
            </a:pPr>
            <a:r>
              <a:t>Blacklist, syntax, semantic, dangerous  |  command chaining, fork bombs, edge cases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3931920"/>
            <a:ext cx="11247120" cy="640080"/>
          </a:xfrm>
          <a:prstGeom prst="roundRect">
            <a:avLst/>
          </a:prstGeom>
          <a:solidFill>
            <a:srgbClr val="1A1D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40080" y="4087368"/>
            <a:ext cx="822960" cy="320040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0F1117"/>
                </a:solidFill>
              </a:rPr>
              <a:t>55+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45920" y="4005072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0F0F5"/>
                </a:solidFill>
              </a:defRPr>
            </a:pPr>
            <a:r>
              <a:t>Heuristics Tests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0" y="397764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CA3AF"/>
                </a:solidFill>
              </a:defRPr>
            </a:pPr>
            <a:r>
              <a:t>5 distros x 4 actions, file ops,  |  path detection, risk levels, sanitization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4663440"/>
            <a:ext cx="11247120" cy="640080"/>
          </a:xfrm>
          <a:prstGeom prst="roundRect">
            <a:avLst/>
          </a:prstGeom>
          <a:solidFill>
            <a:srgbClr val="1A1D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40080" y="4818888"/>
            <a:ext cx="822960" cy="320040"/>
          </a:xfrm>
          <a:prstGeom prst="round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0F1117"/>
                </a:solidFill>
              </a:rPr>
              <a:t>30+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45920" y="4736592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0F0F5"/>
                </a:solidFill>
              </a:defRPr>
            </a:pPr>
            <a:r>
              <a:t>Parser Tests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0" y="47091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CA3AF"/>
                </a:solidFill>
              </a:defRPr>
            </a:pPr>
            <a:r>
              <a:t>JSON parsing, fallback, malformed input,  |  semantic safety, unicode, stress tests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5394960"/>
            <a:ext cx="11247120" cy="640080"/>
          </a:xfrm>
          <a:prstGeom prst="roundRect">
            <a:avLst/>
          </a:prstGeom>
          <a:solidFill>
            <a:srgbClr val="1A1D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40080" y="5550408"/>
            <a:ext cx="822960" cy="320040"/>
          </a:xfrm>
          <a:prstGeom prst="round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0F1117"/>
                </a:solidFill>
              </a:rPr>
              <a:t>20+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45920" y="5468112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0F0F5"/>
                </a:solidFill>
              </a:defRPr>
            </a:pPr>
            <a:r>
              <a:t>Session Tests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0" y="544068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CA3AF"/>
                </a:solidFill>
              </a:defRPr>
            </a:pPr>
            <a:r>
              <a:t>CRUD, expiry, isolation, history cap,  |  concurrency (100 sessions), cleanup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6126480"/>
            <a:ext cx="11247120" cy="640080"/>
          </a:xfrm>
          <a:prstGeom prst="roundRect">
            <a:avLst/>
          </a:prstGeom>
          <a:solidFill>
            <a:srgbClr val="1A1D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40080" y="6281928"/>
            <a:ext cx="822960" cy="32004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0F1117"/>
                </a:solidFill>
              </a:rPr>
              <a:t>20+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645920" y="6199632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0F0F5"/>
                </a:solidFill>
              </a:defRPr>
            </a:pPr>
            <a:r>
              <a:t>API Tests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14800" y="61722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CA3AF"/>
                </a:solidFill>
              </a:defRPr>
            </a:pPr>
            <a:r>
              <a:t>All endpoints, error handling, input  |  validation, long inputs, XSS, unicode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22C55E"/>
                </a:solidFill>
              </a:defRPr>
            </a:pPr>
            <a:r>
              <a:t>Extreme Test Cases — Highlights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280160"/>
            <a:ext cx="5486400" cy="5029200"/>
          </a:xfrm>
          <a:prstGeom prst="roundRect">
            <a:avLst/>
          </a:prstGeom>
          <a:solidFill>
            <a:srgbClr val="1A1D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F4444"/>
                </a:solidFill>
              </a:defRPr>
            </a:pPr>
            <a:r>
              <a:t>Dangerous Commands Blocked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4937760" cy="4114800"/>
          </a:xfrm>
          <a:prstGeom prst="roundRect">
            <a:avLst/>
          </a:prstGeom>
          <a:solidFill>
            <a:srgbClr val="111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/>
            <a:r>
              <a:rPr sz="1100">
                <a:solidFill>
                  <a:srgbClr val="22C55E"/>
                </a:solidFill>
                <a:latin typeface="Consolas"/>
              </a:rPr>
              <a:t>rm -rf /                    -&gt; BLOCKED
rm -rf /home                -&gt; BLOCKED
rm -rf ~                    -&gt; BLOCKED
rm -rf /*                   -&gt; BLOCKED
mkfs.ext4 /dev/sda1         -&gt; BLOCKED
mkfs.btrfs /dev/nvme0n1p2   -&gt; BLOCKED
dd if=/dev/zero of=/dev/sda -&gt; BLOCKED
:(){ :|:&amp; };:               -&gt; BLOCKED (fork bomb)
echo hi &amp;&amp; rm -rf /         -&gt; BLOCKED (chained)
ls; dd of=/dev/sda          -&gt; BLOCKED (semicolon)
echo hi &amp;&amp; mkfs.ext4 /dev   -&gt; BLOCKED (after safe)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280160"/>
            <a:ext cx="5486400" cy="2286000"/>
          </a:xfrm>
          <a:prstGeom prst="roundRect">
            <a:avLst/>
          </a:prstGeom>
          <a:solidFill>
            <a:srgbClr val="1A1D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37160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BBF24"/>
                </a:solidFill>
              </a:defRPr>
            </a:pPr>
            <a:r>
              <a:t>Edge Cases Handled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1920240"/>
            <a:ext cx="4937760" cy="1463040"/>
          </a:xfrm>
          <a:prstGeom prst="roundRect">
            <a:avLst/>
          </a:prstGeom>
          <a:solidFill>
            <a:srgbClr val="111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/>
            <a:r>
              <a:rPr sz="1100">
                <a:solidFill>
                  <a:srgbClr val="22C55E"/>
                </a:solidFill>
                <a:latin typeface="Consolas"/>
              </a:rPr>
              <a:t>Empty command ''             -&gt; Handled
2000+ char command           -&gt; Passes
Unicode 'echo 日本語 🎉'     -&gt; Passes
Unclosed quotes, pipes       -&gt; Syntax fail
LLM timeout / crash          -&gt; Falls back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3749039"/>
            <a:ext cx="5486400" cy="2560320"/>
          </a:xfrm>
          <a:prstGeom prst="roundRect">
            <a:avLst/>
          </a:prstGeom>
          <a:solidFill>
            <a:srgbClr val="1A1D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384048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A78BFA"/>
                </a:solidFill>
              </a:defRPr>
            </a:pPr>
            <a:r>
              <a:t>Stress Tests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92240" y="4389120"/>
            <a:ext cx="4937760" cy="1645920"/>
          </a:xfrm>
          <a:prstGeom prst="roundRect">
            <a:avLst/>
          </a:prstGeom>
          <a:solidFill>
            <a:srgbClr val="111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/>
            <a:r>
              <a:rPr sz="1100">
                <a:solidFill>
                  <a:srgbClr val="22C55E"/>
                </a:solidFill>
                <a:latin typeface="Consolas"/>
              </a:rPr>
              <a:t>100 concurrent sessions      -&gt; Isolated
50 history entries           -&gt; Caps at 40
20 commands per session      -&gt; All stored
Session expiry (50ms TTL)    -&gt; Cleaned up
Cross-session access         -&gt; Denied
5000-char explanation        -&gt; Parsed OK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22C55E"/>
                </a:solidFill>
              </a:defRPr>
            </a:pPr>
            <a:r>
              <a:t>Technology Stack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280160"/>
            <a:ext cx="3657600" cy="5029200"/>
          </a:xfrm>
          <a:prstGeom prst="roundRect">
            <a:avLst/>
          </a:prstGeom>
          <a:solidFill>
            <a:srgbClr val="1A1D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A78BFA"/>
                </a:solidFill>
              </a:defRPr>
            </a:pPr>
            <a:r>
              <a:t>BACKEND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78BFA"/>
                </a:solidFill>
              </a:defRPr>
            </a:pPr>
            <a:r>
              <a:t>Express 5.1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77440" y="201168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CA3AF"/>
                </a:solidFill>
              </a:defRPr>
            </a:pPr>
            <a:r>
              <a:t>HTTP server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5146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78BFA"/>
                </a:solidFill>
              </a:defRPr>
            </a:pPr>
            <a:r>
              <a:t>Socket.IO 4.8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25146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CA3AF"/>
                </a:solidFill>
              </a:defRPr>
            </a:pPr>
            <a:r>
              <a:t>Real-time events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0175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78BFA"/>
                </a:solidFill>
              </a:defRPr>
            </a:pPr>
            <a:r>
              <a:t>node-pty 1.1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30175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CA3AF"/>
                </a:solidFill>
              </a:defRPr>
            </a:pPr>
            <a:r>
              <a:t>Terminal PTY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5204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78BFA"/>
                </a:solidFill>
              </a:defRPr>
            </a:pPr>
            <a:r>
              <a:t>Zod 4.1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77440" y="35204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CA3AF"/>
                </a:solidFill>
              </a:defRPr>
            </a:pPr>
            <a:r>
              <a:t>Schema validation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0233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78BFA"/>
                </a:solidFill>
              </a:defRPr>
            </a:pPr>
            <a:r>
              <a:t>Axios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77440" y="40233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CA3AF"/>
                </a:solidFill>
              </a:defRPr>
            </a:pPr>
            <a:r>
              <a:t>HTTP client (LLM)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5262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78BFA"/>
                </a:solidFill>
              </a:defRPr>
            </a:pPr>
            <a:r>
              <a:t>fast-fuzzy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77440" y="452628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CA3AF"/>
                </a:solidFill>
              </a:defRPr>
            </a:pPr>
            <a:r>
              <a:t>RAG search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0292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78BFA"/>
                </a:solidFill>
              </a:defRPr>
            </a:pPr>
            <a:r>
              <a:t>Helmet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77440" y="50292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CA3AF"/>
                </a:solidFill>
              </a:defRPr>
            </a:pPr>
            <a:r>
              <a:t>Security headers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5321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78BFA"/>
                </a:solidFill>
              </a:defRPr>
            </a:pPr>
            <a:r>
              <a:t>dotenv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77440" y="55321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CA3AF"/>
                </a:solidFill>
              </a:defRPr>
            </a:pPr>
            <a:r>
              <a:t>Configuration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89120" y="1280160"/>
            <a:ext cx="3657600" cy="5029200"/>
          </a:xfrm>
          <a:prstGeom prst="roundRect">
            <a:avLst/>
          </a:prstGeom>
          <a:solidFill>
            <a:srgbClr val="1A1D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89120" y="13716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6B6D4"/>
                </a:solidFill>
              </a:defRPr>
            </a:pPr>
            <a:r>
              <a:t>FRONTEND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63440" y="20116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6B6D4"/>
                </a:solidFill>
              </a:defRPr>
            </a:pPr>
            <a:r>
              <a:t>React 19.2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201168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CA3AF"/>
                </a:solidFill>
              </a:defRPr>
            </a:pPr>
            <a:r>
              <a:t>UI framework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63440" y="25146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6B6D4"/>
                </a:solidFill>
              </a:defRPr>
            </a:pPr>
            <a:r>
              <a:t>Vite 7.3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251460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CA3AF"/>
                </a:solidFill>
              </a:defRPr>
            </a:pPr>
            <a:r>
              <a:t>Build tool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63440" y="30175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6B6D4"/>
                </a:solidFill>
              </a:defRPr>
            </a:pPr>
            <a:r>
              <a:t>Tailwind CSS 4.2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301752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CA3AF"/>
                </a:solidFill>
              </a:defRPr>
            </a:pPr>
            <a:r>
              <a:t>Styling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63440" y="35204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6B6D4"/>
                </a:solidFill>
              </a:defRPr>
            </a:pPr>
            <a:r>
              <a:t>xterm.js 6.0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352044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CA3AF"/>
                </a:solidFill>
              </a:defRPr>
            </a:pPr>
            <a:r>
              <a:t>Terminal emulator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63440" y="40233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6B6D4"/>
                </a:solidFill>
              </a:defRPr>
            </a:pPr>
            <a:r>
              <a:t>Socket.IO Client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92240" y="402336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CA3AF"/>
                </a:solidFill>
              </a:defRPr>
            </a:pPr>
            <a:r>
              <a:t>Real-time events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63440" y="45262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6B6D4"/>
                </a:solidFill>
              </a:defRPr>
            </a:pPr>
            <a:r>
              <a:t>lucide-react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92240" y="452628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CA3AF"/>
                </a:solidFill>
              </a:defRPr>
            </a:pPr>
            <a:r>
              <a:t>Icon library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63440" y="50292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6B6D4"/>
                </a:solidFill>
              </a:defRPr>
            </a:pPr>
            <a:r>
              <a:t>sonner 2.0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92240" y="502920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CA3AF"/>
                </a:solidFill>
              </a:defRPr>
            </a:pPr>
            <a:r>
              <a:t>Notifications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663440" y="55321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6B6D4"/>
                </a:solidFill>
              </a:defRPr>
            </a:pPr>
            <a:r>
              <a:t>localStorage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92240" y="553212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CA3AF"/>
                </a:solidFill>
              </a:defRPr>
            </a:pPr>
            <a:r>
              <a:t>Session persist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321040" y="1280160"/>
            <a:ext cx="3657600" cy="5029200"/>
          </a:xfrm>
          <a:prstGeom prst="roundRect">
            <a:avLst/>
          </a:prstGeom>
          <a:solidFill>
            <a:srgbClr val="1A1D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321040" y="13716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BBF24"/>
                </a:solidFill>
              </a:defRPr>
            </a:pPr>
            <a:r>
              <a:t>AI / LLM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595360" y="20116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BBF24"/>
                </a:solidFill>
              </a:defRPr>
            </a:pPr>
            <a:r>
              <a:t>Ollama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241280" y="201168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CA3AF"/>
                </a:solidFill>
              </a:defRPr>
            </a:pPr>
            <a:r>
              <a:t>Local LLM runtime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595360" y="25146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BBF24"/>
                </a:solidFill>
              </a:defRPr>
            </a:pPr>
            <a:r>
              <a:t>mistral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241280" y="25146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CA3AF"/>
                </a:solidFill>
              </a:defRPr>
            </a:pPr>
            <a:r>
              <a:t>Default model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595360" y="30175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BBF24"/>
                </a:solidFill>
              </a:defRPr>
            </a:pPr>
            <a:r>
              <a:t>phi3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241280" y="30175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CA3AF"/>
                </a:solidFill>
              </a:defRPr>
            </a:pPr>
            <a:r>
              <a:t>Lightweight model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595360" y="35204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BBF24"/>
                </a:solidFill>
              </a:defRPr>
            </a:pPr>
            <a:r>
              <a:t>Gemini 2.5 Flash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241280" y="35204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CA3AF"/>
                </a:solidFill>
              </a:defRPr>
            </a:pPr>
            <a:r>
              <a:t>Cloud fallback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595360" y="40233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BBF24"/>
                </a:solidFill>
              </a:defRPr>
            </a:pPr>
            <a:r>
              <a:t>RAG Pipeline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241280" y="40233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CA3AF"/>
                </a:solidFill>
              </a:defRPr>
            </a:pPr>
            <a:r>
              <a:t>Knowledge retrieval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595360" y="45262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BBF24"/>
                </a:solidFill>
              </a:defRPr>
            </a:pPr>
            <a:r>
              <a:t>Prompt Eng.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241280" y="452628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CA3AF"/>
                </a:solidFill>
              </a:defRPr>
            </a:pPr>
            <a:r>
              <a:t>System context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595360" y="50292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BBF24"/>
                </a:solidFill>
              </a:defRPr>
            </a:pPr>
            <a:r>
              <a:t>Safety LLM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241280" y="50292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CA3AF"/>
                </a:solidFill>
              </a:defRPr>
            </a:pPr>
            <a:r>
              <a:t>Semantic check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595360" y="55321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BBF24"/>
                </a:solidFill>
              </a:defRPr>
            </a:pPr>
            <a:r>
              <a:t>Diagnosis LLM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241280" y="55321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CA3AF"/>
                </a:solidFill>
              </a:defRPr>
            </a:pPr>
            <a:r>
              <a:t>Failure analysis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22C55E"/>
                </a:solidFill>
              </a:defRPr>
            </a:pPr>
            <a:r>
              <a:t>Key Features Summary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5577840" cy="1188720"/>
          </a:xfrm>
          <a:prstGeom prst="roundRect">
            <a:avLst/>
          </a:prstGeom>
          <a:solidFill>
            <a:srgbClr val="1A1D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6B6D4"/>
                </a:solidFill>
              </a:defRPr>
            </a:pPr>
            <a:r>
              <a:t>Natural Language Interface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9164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CA3AF"/>
                </a:solidFill>
              </a:defRPr>
            </a:pPr>
            <a:r>
              <a:t>Type what you want in plain English — AI generates the command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188720"/>
            <a:ext cx="5577840" cy="1188720"/>
          </a:xfrm>
          <a:prstGeom prst="roundRect">
            <a:avLst/>
          </a:prstGeom>
          <a:solidFill>
            <a:srgbClr val="1A1D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12801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2C55E"/>
                </a:solidFill>
              </a:defRPr>
            </a:pPr>
            <a:r>
              <a:t>Local-First Privacy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169164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CA3AF"/>
                </a:solidFill>
              </a:defRPr>
            </a:pPr>
            <a:r>
              <a:t>Ollama runs on your machine. Your data never leaves unless you choose Gemini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514600"/>
            <a:ext cx="5577840" cy="1188720"/>
          </a:xfrm>
          <a:prstGeom prst="roundRect">
            <a:avLst/>
          </a:prstGeom>
          <a:solidFill>
            <a:srgbClr val="1A1D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6060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BBF24"/>
                </a:solidFill>
              </a:defRPr>
            </a:pPr>
            <a:r>
              <a:t>3-Layer Safety Net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01752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CA3AF"/>
                </a:solidFill>
              </a:defRPr>
            </a:pPr>
            <a:r>
              <a:t>Syntax check + 100-rule blacklist + LLM semantic analysis before any execution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2514600"/>
            <a:ext cx="5577840" cy="1188720"/>
          </a:xfrm>
          <a:prstGeom prst="roundRect">
            <a:avLst/>
          </a:prstGeom>
          <a:solidFill>
            <a:srgbClr val="1A1D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26060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A78BFA"/>
                </a:solidFill>
              </a:defRPr>
            </a:pPr>
            <a:r>
              <a:t>Real-Time Terminal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301752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CA3AF"/>
                </a:solidFill>
              </a:defRPr>
            </a:pPr>
            <a:r>
              <a:t>Full xterm.js terminal with live PTY streaming, sudo support, resize sync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840480"/>
            <a:ext cx="5577840" cy="1188720"/>
          </a:xfrm>
          <a:prstGeom prst="roundRect">
            <a:avLst/>
          </a:prstGeom>
          <a:solidFill>
            <a:srgbClr val="1A1D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9319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3B82F6"/>
                </a:solidFill>
              </a:defRPr>
            </a:pPr>
            <a:r>
              <a:t>Multi-Distro Intelligence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34340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CA3AF"/>
                </a:solidFill>
              </a:defRPr>
            </a:pPr>
            <a:r>
              <a:t>Auto-detects your distro and generates correct package manager commands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3840480"/>
            <a:ext cx="5577840" cy="1188720"/>
          </a:xfrm>
          <a:prstGeom prst="roundRect">
            <a:avLst/>
          </a:prstGeom>
          <a:solidFill>
            <a:srgbClr val="1A1D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0" y="39319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EF4444"/>
                </a:solidFill>
              </a:defRPr>
            </a:pPr>
            <a:r>
              <a:t>Smart Fallback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434340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CA3AF"/>
                </a:solidFill>
              </a:defRPr>
            </a:pPr>
            <a:r>
              <a:t>If Ollama is down, automatically switches to Gemini. Both fail? Clear error message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5166359"/>
            <a:ext cx="5577840" cy="1188720"/>
          </a:xfrm>
          <a:prstGeom prst="roundRect">
            <a:avLst/>
          </a:prstGeom>
          <a:solidFill>
            <a:srgbClr val="1A1D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5257799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6B6D4"/>
                </a:solidFill>
              </a:defRPr>
            </a:pPr>
            <a:r>
              <a:t>Failure Diagnosis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669279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CA3AF"/>
                </a:solidFill>
              </a:defRPr>
            </a:pPr>
            <a:r>
              <a:t>When commands fail, LLM analyzes the output and suggests fixes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09360" y="5166359"/>
            <a:ext cx="5577840" cy="1188720"/>
          </a:xfrm>
          <a:prstGeom prst="roundRect">
            <a:avLst/>
          </a:prstGeom>
          <a:solidFill>
            <a:srgbClr val="1A1D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0" y="5257799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BBF24"/>
                </a:solidFill>
              </a:defRPr>
            </a:pPr>
            <a:r>
              <a:t>Session History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5669279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CA3AF"/>
                </a:solidFill>
              </a:defRPr>
            </a:pPr>
            <a:r>
              <a:t>Full command history with status, exit codes, and re-run capability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0" y="1371600"/>
            <a:ext cx="2103120" cy="1097280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0" y="1463040"/>
            <a:ext cx="2103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0F1117"/>
                </a:solidFill>
              </a:defRPr>
            </a:pPr>
            <a:r>
              <a:t>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926080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0F0F5"/>
                </a:solidFill>
              </a:defRPr>
            </a:pPr>
            <a:r>
              <a:t>Thank You!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3931920"/>
            <a:ext cx="8503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9CA3AF"/>
                </a:solidFill>
              </a:defRPr>
            </a:pPr>
            <a:r>
              <a:t>Linux AI Assistant — Safe, Local, Intelligent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5029200"/>
            <a:ext cx="1463040" cy="365760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0F1117"/>
                </a:solidFill>
              </a:rPr>
              <a:t>168 Tests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017520" y="5029200"/>
            <a:ext cx="1463040" cy="36576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0F1117"/>
                </a:solidFill>
              </a:rPr>
              <a:t>0 Failures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63440" y="5029200"/>
            <a:ext cx="1463040" cy="365760"/>
          </a:xfrm>
          <a:prstGeom prst="round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0F1117"/>
                </a:solidFill>
              </a:rPr>
              <a:t>5 Distros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5029200"/>
            <a:ext cx="1463040" cy="365760"/>
          </a:xfrm>
          <a:prstGeom prst="round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0F1117"/>
                </a:solidFill>
              </a:rPr>
              <a:t>100+ Rules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55279" y="5029200"/>
            <a:ext cx="1463040" cy="36576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0F1117"/>
                </a:solidFill>
              </a:rPr>
              <a:t>3-Layer Safety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601200" y="5029200"/>
            <a:ext cx="1463040" cy="365760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0F1117"/>
                </a:solidFill>
              </a:rPr>
              <a:t>&lt; 172ms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5760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B7280"/>
                </a:solidFill>
              </a:defRPr>
            </a:pPr>
            <a:r>
              <a:t>Built with Ollama + Gemini + React + Express + Socket.IO + xterm.js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